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0EA5E9"/>
                </a:solidFill>
              </a:defRPr>
            </a:pPr>
            <a:r>
              <a:t>UNIVERSIDAD CATÓLICA DEL MAULE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Ingeniería de Datos y Gestión Operacional Astronómica en Chile</a:t>
            </a:r>
          </a:p>
          <a:p>
            <a:pPr>
              <a:spcAft>
                <a:spcPts val="3000"/>
              </a:spcAft>
              <a:defRPr sz="1800">
                <a:solidFill>
                  <a:srgbClr val="F59E0B"/>
                </a:solidFill>
              </a:defRPr>
            </a:pPr>
            <a:r>
              <a:t>Pipeline ETL con Apache Airflow, PostgreSQL y Cruce Dimensional ESO Archive vs. ALeRCE Broker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Actividad Curricular: INF-522 - Gestión II (Evaluación 2 - 35%)</a:t>
            </a:r>
            <a:br/>
            <a:r>
              <a:t>Docentes: Natalia Morales | Sebastián Farías</a:t>
            </a:r>
            <a:br/>
            <a:r>
              <a:t>Estudiantes: Equipo de Ingeniería Civil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INF-522: GESTIÓN II | SISTEMAS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Contexto Astronómico Nacional y Problema de Gestión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Chile: Capital Mundial de la Astronomía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[POTENCIAL NACIONAL]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Concentra más del 50% de la capacidad de observación óptica e infrarroja del planeta.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Instalaciones de clase mundial: Paranal (VLT), La Silla, ALMA/APEX (Chajnantor).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Enorme valor científico y costo operacional por hora de observación nocturna.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El Desafío de Gestión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[PREGUNTA OPERATIVA]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El cielo es dinámico: millones de eventos transitorios (supernovas, asteroides, núcleos activos).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¿Cómo saber si el tiempo de exposición de los telescopios chilenos está cubriendo las zonas donde ocurren las alertas?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Problema: Falta de integración de datos entre telescopios de seguimiento y brokers de alertas.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Solución de Inteligencia de Negocios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[PROPÓSITO ETL]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Construir un Data Warehouse unificado que cruza datos de telescopios en Chile con alertas del broker ALeRCE.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Automatizar ingesta continua mediante Apache Airflow.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Proveer 5 KPIs analíticos para directores de observatorios y científicos.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INF-522: GESTIÓN II | SISTEMAS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Fuentes Seleccionadas y Justificación en Territorio Chileno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API 1: ESO Science Archive (TAP / IVOA)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[OBSERVATORIO EUROPEO AUSTRAL]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Justificación en Chile: El 100% de telescopios de ESO operan en territorio chileno (Región de Antofagasta y Coquimbo) bajo tratados con el Estado.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Protocolo IVOA TAP: Endpoint síncrono estándar https://archive.eso.org/tap_obs/sync.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Lenguaje ADQL: Consultas SQL astronómicas sobre ivoa.ObsCore.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Formato y Acceso: Respuesta JSON sin API keys requeridas para metadatos públicos.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Métricas clave: t_min (MJD), t_exptime, s_ra, s_dec, access_estsize.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API 2: ALeRCE Broker API (Chile)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[BROKER DE DATOS CHILENO]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Justificación en Chile: Plataforma desarrollada por Universidad de Chile (CMM), Instituto Milenio de Astrofísica (MAS), UdeC y Data Observatory.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Infraestructura Nacional: Procesa flujos de alertas astronómicas con modelos de Machine Learning (lc_classifier).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REST API Pública: https://api.alerce.online/ztf/v1/objects.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Paginación Nativa: Soporta page y page_size con límites controlados.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Métricas clave: lastmjd (MJD), meanra, meandec, probability, ndet.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INF-522: GESTIÓN II | SISTEMAS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Estrategia de Cruce: Dimensión Temporal y Dimensión Espacial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Cruce Temporal: fecha_id (DATE)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[DIMENSIÓN TEMPORAL]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Desafío: Ambas fuentes entregan tiempo en Modified Julian Date (MJD).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Solución en Transform: Conversión unificada a fecha calendario estándar YYYY-MM-DD (MJD 0 = 1858-11-17).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Dimensión Tiempo (dw.dim_tiempo): Permite análisis por año, mes, trimestre, día de la semana y fin de semana.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Resultado: Cruce temporal exacto por noche astronómica de observación.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Cruce Espacial: banda_declinacion_id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[DIMENSIÓN ESPACIAL]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Desafío: Ambas fuentes usan coordenadas continuas (Ascensión Recta / Declinación).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Solución en Transform: Discretización matemática de la declinación en franjas regulares de 10° celestes (ej. -30° a -20°, 0° a 10°).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Dimensión Banda Cielo (dw.dim_banda_cielo): Clasifica franjas por Hemisferio Austral (dec &lt; 0°) y Boreal (dec &gt;= 0°).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Resultado: Identificación de franjas celestes con alta densidad de alertas frente a tiempo de exposición asignado.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INF-522: GESTIÓN II | SISTEMAS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Arquitectura de Datos en 4 Capas y Auditoría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1. Capa RAW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[INMUTABILIDAD]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Tablas: eso_observations_raw y alerce_objects_raw.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Payload JSONB inmutable tal como llega de la red.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Permite reprocesamiento histórico sin volver a saturar las APIs públicas.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2. Capa STAGING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[DEPURACIÓN]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Tablas: stg_eso_observations y stg_alerce_objects.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Datos limpios, tipados, validados y desduplicados.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Filtrado de nulos y anomalías físicas (coordenadas [-90,90]).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3. Capa DW (Star)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[MODELO ESTRELLA]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Dimensiones: dim_tiempo, dim_instrumento, dim_banda_cielo.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Hechos: fact_observaciones_eso y fact_alertas_alerce.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Surrogate keys e integridad referencial.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4. Capa MART &amp; Audit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[KPIs Y AUDITORÍA]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5 tablas de KPIs agregados con métricas de gestión.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Tabla public.etl_audit con trazabilidad completa (filas, % nulos, tiempo, estado).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Idempotencia: ON CONFLICT DO UPDATE.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INF-522: GESTIÓN II | SISTEMAS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Diseño de Orquestación en Apache Airflow: 3 DAGs Desacoplados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DAG 1: ETL ESO Archive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[dag_1_etl_eso_archive]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Schedule: @daily (02:00 UTC).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Tarea 1: Validar API ESO.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Tarea 2: Extraer JSON a Raw.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Tarea 3: Transformar a Staging y DW.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Tarea 4: Disparar DAG 3 (TriggerDagRunOperator).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Registra métricas en public.etl_audit.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DAG 2: ETL ALeRCE Chile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[dag_2_etl_alerce_chile]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Schedule: @daily (02:00 UTC).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Tarea 1: Validar API ALeRCE.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Tarea 2: Extracción paginada a Raw.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Tarea 3: Transformar a Staging y DW.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Tarea 4: Disparar DAG 3.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Ejecución 100% independiente del DAG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DAG 3: Mart Astronómico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[dag_3_kpi_mart_astronomico]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Schedule: Disparado automáticamente por DAGs 1 y 2 (o 03:00 UTC).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Tarea: Ejecutar agregaciones en SQL sobre el DW.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Resiliencia: Procesa con los datos disponibles sin fallar si un ETL falló.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Actualiza las 5 tablas del esquema mart.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INF-522: GESTIÓN II | SISTEMAS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Estrategia de Tolerancia a Fallas y Demostración en Vivo (8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Mecanismos de Resiliencia Implementados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[ARQUITECTURA RESILIENTE]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Validación Previa: Comprueba HTTP status antes de iniciar cualquier extracción pesada.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Reintentos con Espera: retries=2 con retry_delay=15s (rápido para la demo en vivo).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Callback de Falla Automático: on_failure_callback (registrar_falla_audit) persiste estado 'FAILED' y excepción en public.etl_audit.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Aislamiento de Fallas: Si DAG 1 falla, DAG 2 sigue ejecutando y DAG 3 calcula sobre los datos disponibles.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Idempotencia de Carga: ON CONFLICT permite relanzar tareas ('Clear') sin duplicar registros.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Protocolo de Demostración en Vivo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[GUÍA DEMO EN VIVO]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1. En Airflow Variables, alterar eso_api_url a una URL incorrecta.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2. Ejecutar DAG 1: Observar estado 'up_for_retry' (amarillo) y caída final a 'failed' (rojo).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3. Verificar en PostgreSQL: SELECT * FROM public.etl_audit muestra el registro FAILED con mensaje de error.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4. Constatar que DAG 2 y DAG 3 terminaron en SUCCESS (verde).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5. Restaurar URL correcta, aplicar 'Clear Task' y evidenciar recuperación exitosa e idempotente.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INF-522: GESTIÓN II | SISTEMAS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Indicadores de Gestión: Eficiencia y Almacenamiento ESO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KPI 1: Horas Efectivas de Exposición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[PRODUCTIVIDAD OBSERVACIONAL]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Fórmula: SUM(tiempo_exposicion_seg) / 3600.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Objetivo: Medir el aprovechamiento nocturno en Paranal y La Silla por telescopio e instrumento.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Periodicidad: Diaria.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Meta: &gt;= 8.0 horas conjuntas por instalación.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Hallazgo: Telescopios como FEROS y HARPS alcanzan entre 4 y 7 horas útiles por noche despejada.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KPI 2: Volumen de Datos Científicos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[INFRAESTRUCTURA TI]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Fórmula: SUM(tamano_estimado_mb) / 1024.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Objetivo: Dimensionar la carga de transferencia satelital/fibra óptica y almacenamiento.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Periodicidad: Diaria / Mensual.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Umbral Alerta: &gt; 500 GB/día.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Hallazgo: Flujo regular entre 1 y 25 GB/día en productos procesados, dentro de la capacidad de 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KPI 3: Tasa de Calibración Avanzada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[CALIDAD DE DATOS]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Fórmula: (COUNT(calib_level &gt;= 2) / COUNT(*)) * 100.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Objetivo: Asegurar que los datos entregados estén en nivel ciencia listos para publicación.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Periodicidad: Semanal / Mensual.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Meta: &gt;= 75% en nivel ciencia.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Hallazgo: 100% de productos de ALMA y HARPS cargados cumplen con nivel ciencia validado.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INF-522: GESTIÓN II | SISTEMAS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Indicadores 4 y 5: Machine Learning y Cruce ESO vs. ALeRCE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KPI 4: Confianza de Clasificación ALeRCE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[MACHINE LEARNING CHILENO]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Fórmula: (COUNT(probabilidad &gt;= 0.70) / COUNT(*)) * 100.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Objetivo: Evaluar la certeza del clasificador chileno lc_classifier por categoría de objeto (Supernovas, Periódicas, AGN).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Periodicidad: Diaria.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Meta: &gt;= 60% de alertas clasificadas con alta confianza.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Hallazgo: Clases consolidadas (ej. LPV) logran mayor certidumbre, mientras que transitorios rápidos requieren más épocas de luz.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KPI 5: Cobertura de Seguimiento por Banda (Cruce)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[INDICADOR DE CRUCE PRINCIPAL]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Fórmula: Minutos Exposición ESO / N° Alertas ALeRCE en misma fecha y franja de 10°.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Objetivo: Identificar 'zonas ciegas' donde surgen muchas alertas en cielo chileno pero falta tiempo de telescopio.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Periodicidad: Diaria / Semanal.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Meta: &gt;= 5.0 min/alerta en Hemisferio Austral (dec &lt; 0°).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Hallazgo: Se detectaron bandas australes con déficit de seguimiento (0 min de exposición frente a decenas de alertas).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INF-522: GESTIÓN II | SISTEMAS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Estrategia de Gobernanza, Calidad y Escalabilidad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Usuarios y Decisiones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[VALOR DE NEGOCIO]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Directores de Operaciones: Asignación dinámica de horas nocturnas.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Científicos de Datos (CMM/MAS): Calibración de modelos ML de ALeRCE.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Ingenieros de Redes: Monitoreo de tráfico y cuotas de almacenamiento.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Calidad y Open Science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[GOBIERNO DE DATOS]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Métricas de nulos automáticas en etl_audit (17.39% en campos opcionales de ALeRCE; 0% en ESO).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Datos 100% abiertos bajo políticas de Open Science (sin datos sensibles ni PII).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Cumplimiento total de normativa chilena.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Escalabilidad Vera Rubin (LSST)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[FUTURO CIENTÍFICO]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El observatorio Vera C. Rubin generará 10 millones de alertas por noche en Cerro Pachón (Coquimbo).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Arquitectura lista para escalar: Particionamiento por rango de fecha en PostgreSQL.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Transición modular a Apache Spark / Kafka sin reescribir la lógica analítica.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INF-522: GESTIÓN II | SISTEMAS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Conclusiones, Lecciones Aprendidas y Demostración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Lecciones Aprendidas del Proyecto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[APRENDIZAJES CLAVE]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El desacoplamiento de DAGs es fundamental: la indisponibilidad de una API externa jamás debe colapsar el sistema.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La capa RAW inmutable garantiza reproducibilidad y evita bloqueos por límites de consulta.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El cruce dimensional (MJD a Fecha y Discretización de Coordenadas) resolvió la heterogeneidad de fuentes.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La tabla public.etl_audit proporciona visibilidad operacional instantánea para el equipo.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¡Muchas Gracias! - Ronda de Preguntas</a:t>
            </a:r>
          </a:p>
          <a:p>
            <a:pPr>
              <a:spcAft>
                <a:spcPts val="800"/>
              </a:spcAft>
              <a:defRPr sz="1100" b="1">
                <a:solidFill>
                  <a:srgbClr val="0EA5E9"/>
                </a:solidFill>
              </a:defRPr>
            </a:pPr>
            <a:r>
              <a:t>[CIERRE Y PREGUNTAS]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Repositorio GitHub: Francoisere/Gestion2-ESO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Código disponible: DAGs Airflow, scripts Python, DDL PostgreSQL, Docker Compose.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Entregables completos: Informe técnico PDF y suite de pruebas CLI.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Listos para responder preguntas individuales de la comisión evaluadora.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